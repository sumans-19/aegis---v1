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70" r:id="rId2"/>
    <p:sldId id="263" r:id="rId3"/>
    <p:sldId id="264" r:id="rId4"/>
    <p:sldId id="265" r:id="rId5"/>
    <p:sldId id="266" r:id="rId6"/>
    <p:sldId id="267" r:id="rId7"/>
    <p:sldId id="269" r:id="rId8"/>
    <p:sldId id="268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0" autoAdjust="0"/>
    <p:restoredTop sz="94641" autoAdjust="0"/>
  </p:normalViewPr>
  <p:slideViewPr>
    <p:cSldViewPr>
      <p:cViewPr varScale="1">
        <p:scale>
          <a:sx n="92" d="100"/>
          <a:sy n="92" d="100"/>
        </p:scale>
        <p:origin x="672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96F83-55EB-44FB-A6B6-44ED4DFC9222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1A974-C3F6-467E-A719-7F0890CE629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F02-B8A6-4879-A35B-185A64064778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 userDrawn="1"/>
        </p:nvPicPr>
        <p:blipFill rotWithShape="1">
          <a:blip r:embed="rId2" cstate="print"/>
          <a:srcRect l="8776" r="12248" b="5973"/>
          <a:stretch/>
        </p:blipFill>
        <p:spPr>
          <a:xfrm>
            <a:off x="791617" y="168741"/>
            <a:ext cx="1189583" cy="498009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 userDrawn="1"/>
        </p:nvPicPr>
        <p:blipFill rotWithShape="1">
          <a:blip r:embed="rId3" cstate="print"/>
          <a:srcRect l="21941" t="15700" r="20440" b="5258"/>
          <a:stretch/>
        </p:blipFill>
        <p:spPr>
          <a:xfrm>
            <a:off x="3255791" y="209549"/>
            <a:ext cx="457200" cy="45720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987582" y="168741"/>
            <a:ext cx="655032" cy="49177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917205" y="168741"/>
            <a:ext cx="985905" cy="491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8645-0AAE-46EA-9B87-9DCAAC54DBF6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543800" y="205979"/>
            <a:ext cx="17780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CD488-A5AA-4A9C-8A0D-81D20A346185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F2CFD-23DE-40AF-8834-AA971663E69D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14F7-7E8B-4795-932F-CCC9EB7C1F92}" type="datetime3">
              <a:rPr lang="en-US" smtClean="0"/>
              <a:t>18 May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76F2C-25F0-46B7-90CC-F0982DBB91DA}" type="datetime3">
              <a:rPr lang="en-US" smtClean="0"/>
              <a:t>18 May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543800" y="205979"/>
            <a:ext cx="17780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C80B4-98CE-4B86-8BB8-F1A726332D0B}" type="datetime3">
              <a:rPr lang="en-US" smtClean="0"/>
              <a:t>18 May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543800" y="205979"/>
            <a:ext cx="17780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1ED4-391A-4B7E-8EFC-1A7FD912E90A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ADC-2D85-4C99-BC97-116048DC93F0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4C271-B0CA-4176-BE6B-23E60CA82DEC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21DAB-4D50-444A-82CD-4417F18812DB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91C04-3B30-4C70-8E83-D2356E1EFC87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Smart Horizon 2026: 48 Hour International Hackathon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2579492" y="990156"/>
            <a:ext cx="1883941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015"/>
              </a:lnSpc>
            </a:pPr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6" name="Text 1"/>
          <p:cNvSpPr/>
          <p:nvPr/>
        </p:nvSpPr>
        <p:spPr>
          <a:xfrm>
            <a:off x="4694711" y="962398"/>
            <a:ext cx="1883941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015"/>
              </a:lnSpc>
            </a:pPr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8" name="Text 3"/>
          <p:cNvSpPr/>
          <p:nvPr/>
        </p:nvSpPr>
        <p:spPr>
          <a:xfrm>
            <a:off x="457200" y="678583"/>
            <a:ext cx="8215461" cy="71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40048"/>
            <a:r>
              <a:rPr lang="en-US" sz="2800" b="1" dirty="0">
                <a:solidFill>
                  <a:srgbClr val="1F497D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Smart Horizon </a:t>
            </a:r>
            <a:r>
              <a:rPr lang="en-US" sz="2800" b="1" dirty="0" smtClean="0">
                <a:solidFill>
                  <a:srgbClr val="1F497D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2026:</a:t>
            </a:r>
          </a:p>
          <a:p>
            <a:pPr defTabSz="640048"/>
            <a:r>
              <a:rPr lang="en-US" sz="2800" b="1" dirty="0" smtClean="0">
                <a:solidFill>
                  <a:srgbClr val="1F497D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48-Hour </a:t>
            </a:r>
            <a:r>
              <a:rPr lang="en-US" sz="2800" b="1" dirty="0">
                <a:solidFill>
                  <a:srgbClr val="1F497D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International Hackathon</a:t>
            </a:r>
            <a:endParaRPr lang="en-US" sz="2800" dirty="0">
              <a:solidFill>
                <a:srgbClr val="1F4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388849" y="1906581"/>
            <a:ext cx="8352161" cy="613711"/>
            <a:chOff x="300707" y="2006663"/>
            <a:chExt cx="8352161" cy="613711"/>
          </a:xfrm>
        </p:grpSpPr>
        <p:sp>
          <p:nvSpPr>
            <p:cNvPr id="9" name="Shape 4"/>
            <p:cNvSpPr/>
            <p:nvPr/>
          </p:nvSpPr>
          <p:spPr>
            <a:xfrm>
              <a:off x="300707" y="2006663"/>
              <a:ext cx="2702644" cy="594867"/>
            </a:xfrm>
            <a:prstGeom prst="roundRect">
              <a:avLst>
                <a:gd name="adj" fmla="val 480095"/>
              </a:avLst>
            </a:prstGeom>
            <a:solidFill>
              <a:schemeClr val="tx2"/>
            </a:solidFill>
            <a:ln w="7620">
              <a:solidFill>
                <a:srgbClr val="BACFDD"/>
              </a:solidFill>
              <a:prstDash val="solid"/>
            </a:ln>
          </p:spPr>
        </p:sp>
        <p:sp>
          <p:nvSpPr>
            <p:cNvPr id="10" name="Text 5"/>
            <p:cNvSpPr/>
            <p:nvPr/>
          </p:nvSpPr>
          <p:spPr>
            <a:xfrm>
              <a:off x="1305749" y="2085211"/>
              <a:ext cx="692560" cy="1526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640048">
                <a:lnSpc>
                  <a:spcPts val="1330"/>
                </a:lnSpc>
              </a:pPr>
              <a:r>
                <a:rPr lang="en-US" sz="10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Barlow Bold" pitchFamily="34" charset="-122"/>
                  <a:cs typeface="Times New Roman" panose="02020603050405020304" pitchFamily="18" charset="0"/>
                </a:rPr>
                <a:t>Event Date</a:t>
              </a:r>
              <a:endPara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6"/>
            <p:cNvSpPr/>
            <p:nvPr/>
          </p:nvSpPr>
          <p:spPr>
            <a:xfrm>
              <a:off x="393501" y="2404121"/>
              <a:ext cx="2517056" cy="117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defTabSz="640048">
                <a:lnSpc>
                  <a:spcPts val="1015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ontserrat" pitchFamily="34" charset="-122"/>
                  <a:cs typeface="Times New Roman" panose="02020603050405020304" pitchFamily="18" charset="0"/>
                </a:rPr>
                <a:t>September 3rd, 4th &amp; 5th, 2026</a:t>
              </a:r>
              <a:endPara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Shape 7"/>
            <p:cNvSpPr/>
            <p:nvPr/>
          </p:nvSpPr>
          <p:spPr>
            <a:xfrm>
              <a:off x="3037247" y="2019013"/>
              <a:ext cx="2912901" cy="594866"/>
            </a:xfrm>
            <a:prstGeom prst="roundRect">
              <a:avLst>
                <a:gd name="adj" fmla="val 480095"/>
              </a:avLst>
            </a:prstGeom>
            <a:solidFill>
              <a:schemeClr val="tx2"/>
            </a:solidFill>
            <a:ln w="7620">
              <a:solidFill>
                <a:srgbClr val="BACFDD"/>
              </a:solidFill>
              <a:prstDash val="solid"/>
            </a:ln>
          </p:spPr>
        </p:sp>
        <p:sp>
          <p:nvSpPr>
            <p:cNvPr id="13" name="Text 8"/>
            <p:cNvSpPr/>
            <p:nvPr/>
          </p:nvSpPr>
          <p:spPr>
            <a:xfrm>
              <a:off x="4362463" y="2084402"/>
              <a:ext cx="404933" cy="1526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640048">
                <a:lnSpc>
                  <a:spcPts val="1330"/>
                </a:lnSpc>
              </a:pPr>
              <a:r>
                <a:rPr lang="en-US" sz="1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Barlow Bold" pitchFamily="34" charset="-122"/>
                  <a:cs typeface="Times New Roman" panose="02020603050405020304" pitchFamily="18" charset="0"/>
                </a:rPr>
                <a:t>Venue</a:t>
              </a:r>
            </a:p>
          </p:txBody>
        </p:sp>
        <p:sp>
          <p:nvSpPr>
            <p:cNvPr id="14" name="Text 9"/>
            <p:cNvSpPr/>
            <p:nvPr/>
          </p:nvSpPr>
          <p:spPr>
            <a:xfrm>
              <a:off x="3235169" y="2340071"/>
              <a:ext cx="2517056" cy="2483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defTabSz="640048"/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ontserrat" pitchFamily="34" charset="-122"/>
                  <a:cs typeface="Times New Roman" panose="02020603050405020304" pitchFamily="18" charset="0"/>
                </a:rPr>
                <a:t>New Horizon Knowledge </a:t>
              </a:r>
              <a:r>
                <a:rPr lang="en-US" sz="12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Montserrat" pitchFamily="34" charset="-122"/>
                  <a:cs typeface="Times New Roman" panose="02020603050405020304" pitchFamily="18" charset="0"/>
                </a:rPr>
                <a:t>Park, Bengaluru</a:t>
              </a:r>
              <a:endPara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Shape 10"/>
            <p:cNvSpPr/>
            <p:nvPr/>
          </p:nvSpPr>
          <p:spPr>
            <a:xfrm>
              <a:off x="5950149" y="2025508"/>
              <a:ext cx="2702719" cy="594866"/>
            </a:xfrm>
            <a:prstGeom prst="roundRect">
              <a:avLst>
                <a:gd name="adj" fmla="val 480095"/>
              </a:avLst>
            </a:prstGeom>
            <a:solidFill>
              <a:schemeClr val="tx2"/>
            </a:solidFill>
            <a:ln w="7620">
              <a:solidFill>
                <a:srgbClr val="BACFDD"/>
              </a:solidFill>
              <a:prstDash val="solid"/>
            </a:ln>
          </p:spPr>
        </p:sp>
        <p:sp>
          <p:nvSpPr>
            <p:cNvPr id="16" name="Text 11"/>
            <p:cNvSpPr/>
            <p:nvPr/>
          </p:nvSpPr>
          <p:spPr>
            <a:xfrm>
              <a:off x="6947116" y="2084402"/>
              <a:ext cx="753281" cy="15269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640048">
                <a:lnSpc>
                  <a:spcPts val="1330"/>
                </a:lnSpc>
              </a:pPr>
              <a:r>
                <a:rPr lang="en-US" sz="1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Barlow Bold" pitchFamily="34" charset="-122"/>
                  <a:cs typeface="Times New Roman" panose="02020603050405020304" pitchFamily="18" charset="0"/>
                </a:rPr>
                <a:t>Host Institute</a:t>
              </a:r>
            </a:p>
          </p:txBody>
        </p:sp>
        <p:sp>
          <p:nvSpPr>
            <p:cNvPr id="17" name="Text 12"/>
            <p:cNvSpPr/>
            <p:nvPr/>
          </p:nvSpPr>
          <p:spPr>
            <a:xfrm>
              <a:off x="6031630" y="2378278"/>
              <a:ext cx="2584252" cy="1689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defTabSz="640048">
                <a:lnSpc>
                  <a:spcPts val="1015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ontserrat" pitchFamily="34" charset="-122"/>
                  <a:cs typeface="Times New Roman" panose="02020603050405020304" pitchFamily="18" charset="0"/>
                </a:rPr>
                <a:t>New Horizon College of Engineering</a:t>
              </a:r>
            </a:p>
          </p:txBody>
        </p:sp>
      </p:grpSp>
      <p:sp>
        <p:nvSpPr>
          <p:cNvPr id="18" name="Text 13"/>
          <p:cNvSpPr/>
          <p:nvPr/>
        </p:nvSpPr>
        <p:spPr>
          <a:xfrm>
            <a:off x="457200" y="1635598"/>
            <a:ext cx="6034683" cy="25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330"/>
              </a:lnSpc>
            </a:pPr>
            <a:r>
              <a:rPr lang="en-US" sz="1200" b="1" dirty="0">
                <a:solidFill>
                  <a:srgbClr val="2E3C4E"/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Organized by: Dept. of Artificial Intelligence and Machine Learning &amp; Dept. of Computer Science and Engineering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395776" y="2687407"/>
            <a:ext cx="7989312" cy="411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AEGIS v1</a:t>
            </a:r>
          </a:p>
          <a:p>
            <a:pPr>
              <a:defRPr sz="4000" b="1">
                <a:solidFill>
                  <a:srgbClr val="0066CC"/>
                </a:solidFill>
              </a:defRPr>
            </a:pPr>
            <a:r>
              <a:t>Autonomous Swarm Control for Disaster Recovery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971548"/>
              </p:ext>
            </p:extLst>
          </p:nvPr>
        </p:nvGraphicFramePr>
        <p:xfrm>
          <a:off x="1056671" y="3257550"/>
          <a:ext cx="3326834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26834">
                  <a:extLst>
                    <a:ext uri="{9D8B030D-6E8A-4147-A177-3AD203B41FA5}">
                      <a16:colId xmlns:a16="http://schemas.microsoft.com/office/drawing/2014/main" val="3154602362"/>
                    </a:ext>
                  </a:extLst>
                </a:gridCol>
              </a:tblGrid>
              <a:tr h="252755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smtClean="0">
                          <a:solidFill>
                            <a:schemeClr val="bg1"/>
                          </a:solidFill>
                        </a:rPr>
                        <a:t>Team</a:t>
                      </a:r>
                      <a:r>
                        <a:rPr lang="en-GB" sz="1400" b="1" baseline="0" dirty="0" smtClean="0">
                          <a:solidFill>
                            <a:schemeClr val="bg1"/>
                          </a:solidFill>
                        </a:rPr>
                        <a:t> Members</a:t>
                      </a:r>
                      <a:endParaRPr lang="en-GB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758296"/>
                  </a:ext>
                </a:extLst>
              </a:tr>
              <a:tr h="25275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1. 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2537897"/>
                  </a:ext>
                </a:extLst>
              </a:tr>
              <a:tr h="25275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2. 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951624"/>
                  </a:ext>
                </a:extLst>
              </a:tr>
              <a:tr h="25275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3. 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322055"/>
                  </a:ext>
                </a:extLst>
              </a:tr>
              <a:tr h="25275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4. 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6001403"/>
                  </a:ext>
                </a:extLst>
              </a:tr>
              <a:tr h="25275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5. 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444440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356568"/>
              </p:ext>
            </p:extLst>
          </p:nvPr>
        </p:nvGraphicFramePr>
        <p:xfrm>
          <a:off x="4907273" y="3257550"/>
          <a:ext cx="334275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42758">
                  <a:extLst>
                    <a:ext uri="{9D8B030D-6E8A-4147-A177-3AD203B41FA5}">
                      <a16:colId xmlns:a16="http://schemas.microsoft.com/office/drawing/2014/main" val="3154602362"/>
                    </a:ext>
                  </a:extLst>
                </a:gridCol>
              </a:tblGrid>
              <a:tr h="27815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400" b="1" kern="1200" dirty="0" smtClean="0">
                          <a:solidFill>
                            <a:schemeClr val="bg1"/>
                          </a:solidFill>
                        </a:rPr>
                        <a:t>Team Details</a:t>
                      </a:r>
                      <a:endParaRPr lang="en-GB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758296"/>
                  </a:ext>
                </a:extLst>
              </a:tr>
              <a:tr h="27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 smtClean="0"/>
                        <a:t>Team ID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2537897"/>
                  </a:ext>
                </a:extLst>
              </a:tr>
              <a:tr h="27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 smtClean="0"/>
                        <a:t>Team Name 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951624"/>
                  </a:ext>
                </a:extLst>
              </a:tr>
              <a:tr h="27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 smtClean="0"/>
                        <a:t>Team Lead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322055"/>
                  </a:ext>
                </a:extLst>
              </a:tr>
              <a:tr h="27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 smtClean="0"/>
                        <a:t>College Name</a:t>
                      </a:r>
                      <a:endParaRPr lang="en-GB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6001403"/>
                  </a:ext>
                </a:extLst>
              </a:tr>
              <a:tr h="2781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 smtClean="0"/>
                        <a:t>Problem Statement ID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0444440"/>
                  </a:ext>
                </a:extLst>
              </a:tr>
            </a:tbl>
          </a:graphicData>
        </a:graphic>
      </p:graphicFrame>
      <p:sp>
        <p:nvSpPr>
          <p:cNvPr id="41" name="Shape 4"/>
          <p:cNvSpPr/>
          <p:nvPr/>
        </p:nvSpPr>
        <p:spPr>
          <a:xfrm>
            <a:off x="7487333" y="894865"/>
            <a:ext cx="1213611" cy="502874"/>
          </a:xfrm>
          <a:prstGeom prst="roundRect">
            <a:avLst>
              <a:gd name="adj" fmla="val 480095"/>
            </a:avLst>
          </a:prstGeom>
          <a:solidFill>
            <a:schemeClr val="tx2"/>
          </a:solidFill>
          <a:ln w="7620">
            <a:solidFill>
              <a:srgbClr val="BACFDD"/>
            </a:solidFill>
            <a:prstDash val="solid"/>
          </a:ln>
        </p:spPr>
        <p:txBody>
          <a:bodyPr/>
          <a:p/>
        </p:txBody>
      </p:sp>
      <p:sp>
        <p:nvSpPr>
          <p:cNvPr id="42" name="Text 6"/>
          <p:cNvSpPr/>
          <p:nvPr/>
        </p:nvSpPr>
        <p:spPr>
          <a:xfrm>
            <a:off x="7741100" y="1107433"/>
            <a:ext cx="777742" cy="120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640048">
              <a:lnSpc>
                <a:spcPts val="1015"/>
              </a:lnSpc>
            </a:pPr>
            <a:r>
              <a:rPr lang="en-US" sz="1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Level-1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752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2370"/>
            <a:ext cx="6765058" cy="59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Problem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Understanding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102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600"/>
              </a:spcBef>
              <a:defRPr sz="1400"/>
            </a:pPr>
            <a:r>
              <a:t>• Disaster scenarios (earthquakes, tsunamis, wildfires, floods) require rapid response</a:t>
            </a:r>
          </a:p>
          <a:p>
            <a:pPr>
              <a:spcBef>
                <a:spcPts val="600"/>
              </a:spcBef>
              <a:defRPr sz="1400"/>
            </a:pPr>
            <a:r>
              <a:t>• Manual search and rescue operations are time-consuming and dangerous</a:t>
            </a:r>
          </a:p>
          <a:p>
            <a:pPr>
              <a:spcBef>
                <a:spcPts val="600"/>
              </a:spcBef>
              <a:defRPr sz="1400"/>
            </a:pPr>
            <a:r>
              <a:t>• Need for autonomous, decentralized drone swarms for survivor detection</a:t>
            </a:r>
          </a:p>
          <a:p>
            <a:pPr>
              <a:spcBef>
                <a:spcPts val="600"/>
              </a:spcBef>
              <a:defRPr sz="1400"/>
            </a:pPr>
            <a:r>
              <a:t>• Current solutions lack real-time coordination and adaptive path planning</a:t>
            </a:r>
          </a:p>
          <a:p>
            <a:pPr>
              <a:spcBef>
                <a:spcPts val="600"/>
              </a:spcBef>
              <a:defRPr sz="1400"/>
            </a:pPr>
            <a:r>
              <a:t>• Hardware constraints (battery, communication range, sensor limits) not modeled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1B5B-F9C8-4AE7-BC3B-3C34EE39BCA4}" type="datetime3">
              <a:rPr lang="en-US" smtClean="0"/>
              <a:t>18 May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2" y="285750"/>
            <a:ext cx="4783857" cy="53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Proposed Solution &amp; Innovation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025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400"/>
              </a:spcBef>
              <a:defRPr sz="1300"/>
            </a:pPr>
            <a:r>
              <a:t>• AEGIS: Real-time mission control dashboard for autonomous drone swarms</a:t>
            </a:r>
          </a:p>
          <a:p>
            <a:pPr>
              <a:spcBef>
                <a:spcPts val="400"/>
              </a:spcBef>
              <a:defRPr sz="1300"/>
            </a:pPr>
            <a:r>
              <a:t>• Multi-scenario simulation (earthquake, tsunami, wildfire, flood)</a:t>
            </a:r>
          </a:p>
          <a:p>
            <a:pPr>
              <a:spcBef>
                <a:spcPts val="400"/>
              </a:spcBef>
              <a:defRPr sz="1300"/>
            </a:pPr>
            <a:r>
              <a:t>• Key Features:</a:t>
            </a:r>
          </a:p>
          <a:p>
            <a:pPr>
              <a:spcBef>
                <a:spcPts val="400"/>
              </a:spcBef>
              <a:defRPr sz="1300"/>
            </a:pPr>
            <a:r>
              <a:t>  - Decentralized control with dynamic zone allocation</a:t>
            </a:r>
          </a:p>
          <a:p>
            <a:pPr>
              <a:spcBef>
                <a:spcPts val="400"/>
              </a:spcBef>
              <a:defRPr sz="1300"/>
            </a:pPr>
            <a:r>
              <a:t>  - Real-time 3D visualization (Three.js + WebGL)</a:t>
            </a:r>
          </a:p>
          <a:p>
            <a:pPr>
              <a:spcBef>
                <a:spcPts val="400"/>
              </a:spcBef>
              <a:defRPr sz="1300"/>
            </a:pPr>
            <a:r>
              <a:t>  - Thermal imaging + camera feed integration</a:t>
            </a:r>
          </a:p>
          <a:p>
            <a:pPr>
              <a:spcBef>
                <a:spcPts val="400"/>
              </a:spcBef>
              <a:defRPr sz="1300"/>
            </a:pPr>
            <a:r>
              <a:t>  - A* pathfinding with survivor detection</a:t>
            </a:r>
          </a:p>
          <a:p>
            <a:pPr>
              <a:spcBef>
                <a:spcPts val="400"/>
              </a:spcBef>
              <a:defRPr sz="1300"/>
            </a:pPr>
            <a:r>
              <a:t>  - Battery management &amp; charging station logic</a:t>
            </a:r>
          </a:p>
          <a:p>
            <a:pPr>
              <a:spcBef>
                <a:spcPts val="400"/>
              </a:spcBef>
              <a:defRPr sz="1300"/>
            </a:pPr>
            <a:r>
              <a:t>• Innovation: Combines physics simulation with low-latency tactical interface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BA806-0788-484F-A472-030E326740C8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61950"/>
            <a:ext cx="3563466" cy="45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Technical Architecture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102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300"/>
              </a:spcBef>
              <a:defRPr sz="1200"/>
            </a:pPr>
            <a:r>
              <a:t>Technology Stack:</a:t>
            </a:r>
          </a:p>
          <a:p>
            <a:pPr>
              <a:spcBef>
                <a:spcPts val="300"/>
              </a:spcBef>
              <a:defRPr sz="1200"/>
            </a:pPr>
            <a:r>
              <a:t>• FRONTEND: Vite + React + Three.js (Fiber/Drei) + Zustand (state management)</a:t>
            </a:r>
          </a:p>
          <a:p>
            <a:pPr>
              <a:spcBef>
                <a:spcPts val="300"/>
              </a:spcBef>
              <a:defRPr sz="1200"/>
            </a:pPr>
            <a:r>
              <a:t>• BACKEND: Python 3.x + FastAPI (async WebSocket)</a:t>
            </a:r>
          </a:p>
          <a:p>
            <a:pPr>
              <a:spcBef>
                <a:spcPts val="300"/>
              </a:spcBef>
              <a:defRPr sz="1200"/>
            </a:pPr>
            <a:r>
              <a:t>• SIMULATION: NumPy-based physics engine + A* pathfinding</a:t>
            </a:r>
          </a:p>
          <a:p>
            <a:pPr>
              <a:spcBef>
                <a:spcPts val="300"/>
              </a:spcBef>
              <a:defRPr sz="1200"/>
            </a:pPr>
            <a:r>
              <a:t>• VISUALIZATION: Real-time 3D terrain, fire/smoke, drone trails</a:t>
            </a:r>
          </a:p>
          <a:p>
            <a:pPr>
              <a:spcBef>
                <a:spcPts val="300"/>
              </a:spcBef>
              <a:defRPr sz="1200"/>
            </a:pPr>
          </a:p>
          <a:p>
            <a:pPr>
              <a:spcBef>
                <a:spcPts val="300"/>
              </a:spcBef>
              <a:defRPr sz="1200"/>
            </a:pPr>
            <a:r>
              <a:t>Architecture:</a:t>
            </a:r>
          </a:p>
          <a:p>
            <a:pPr>
              <a:spcBef>
                <a:spcPts val="300"/>
              </a:spcBef>
              <a:defRPr sz="1200"/>
            </a:pPr>
            <a:r>
              <a:t>• Decentralized control: Each drone operates autonomously with assigned zones</a:t>
            </a:r>
          </a:p>
          <a:p>
            <a:pPr>
              <a:spcBef>
                <a:spcPts val="300"/>
              </a:spcBef>
              <a:defRPr sz="1200"/>
            </a:pPr>
            <a:r>
              <a:t>• WebSocket hub: Real-time state sync (state updates @ 20Hz)</a:t>
            </a:r>
          </a:p>
          <a:p>
            <a:pPr>
              <a:spcBef>
                <a:spcPts val="300"/>
              </a:spcBef>
              <a:defRPr sz="1200"/>
            </a:pPr>
            <a:r>
              <a:t>• Physics loop: 50ms tick cycle with battery/movement calculations</a:t>
            </a:r>
          </a:p>
          <a:p>
            <a:pPr>
              <a:spcBef>
                <a:spcPts val="300"/>
              </a:spcBef>
              <a:defRPr sz="1200"/>
            </a:pPr>
            <a:r>
              <a:t>• Event logging: Comprehensive mission event tracking</a:t>
            </a:r>
          </a:p>
          <a:p>
            <a:pPr>
              <a:spcBef>
                <a:spcPts val="300"/>
              </a:spcBef>
              <a:defRPr sz="1200"/>
            </a:pPr>
          </a:p>
          <a:p>
            <a:pPr>
              <a:spcBef>
                <a:spcPts val="300"/>
              </a:spcBef>
              <a:defRPr sz="1200"/>
            </a:pPr>
            <a:r>
              <a:t>Technologies: FastAPI, WebSockets, NumPy, Three.js, React, Tailwind CSS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C79FE-672B-43FD-8EEE-5F62076411EE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2370"/>
            <a:ext cx="3563466" cy="445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Implementation / Prototype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025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spcBef>
                <a:spcPts val="300"/>
              </a:spcBef>
              <a:defRPr sz="1200"/>
            </a:pPr>
            <a:r>
              <a:t>Working Features:</a:t>
            </a:r>
          </a:p>
          <a:p>
            <a:pPr>
              <a:spcBef>
                <a:spcPts val="300"/>
              </a:spcBef>
              <a:defRPr sz="1200"/>
            </a:pPr>
            <a:r>
              <a:t>• Multi-drone tracking: 5 autonomous drones with real-time telemetry</a:t>
            </a:r>
          </a:p>
          <a:p>
            <a:pPr>
              <a:spcBef>
                <a:spcPts val="300"/>
              </a:spcBef>
              <a:defRPr sz="1200"/>
            </a:pPr>
            <a:r>
              <a:t>• 3D disaster scene: Procedural urban terrain with fire/smoke simulation</a:t>
            </a:r>
          </a:p>
          <a:p>
            <a:pPr>
              <a:spcBef>
                <a:spcPts val="300"/>
              </a:spcBef>
              <a:defRPr sz="1200"/>
            </a:pPr>
            <a:r>
              <a:t>• 2D tactical map: "Treasure map" styled long-range surveyor plotting</a:t>
            </a:r>
          </a:p>
          <a:p>
            <a:pPr>
              <a:spcBef>
                <a:spcPts val="300"/>
              </a:spcBef>
              <a:defRPr sz="1200"/>
            </a:pPr>
            <a:r>
              <a:t>• Thermal imaging: Live thermal camera feed with survivor heat signatures</a:t>
            </a:r>
          </a:p>
          <a:p>
            <a:pPr>
              <a:spcBef>
                <a:spcPts val="300"/>
              </a:spcBef>
              <a:defRPr sz="1200"/>
            </a:pPr>
            <a:r>
              <a:t>• Survivor detection: Probabilistic detection model with confidence scoring</a:t>
            </a:r>
          </a:p>
          <a:p>
            <a:pPr>
              <a:spcBef>
                <a:spcPts val="300"/>
              </a:spcBef>
              <a:defRPr sz="1200"/>
            </a:pPr>
            <a:r>
              <a:t>• Event log: Real-time mission events (warnings, detections, status updates)</a:t>
            </a:r>
          </a:p>
          <a:p>
            <a:pPr>
              <a:spcBef>
                <a:spcPts val="300"/>
              </a:spcBef>
              <a:defRPr sz="1200"/>
            </a:pPr>
          </a:p>
          <a:p>
            <a:pPr>
              <a:spcBef>
                <a:spcPts val="300"/>
              </a:spcBef>
              <a:defRPr sz="1200"/>
            </a:pPr>
            <a:r>
              <a:t>Key Functionalities:</a:t>
            </a:r>
          </a:p>
          <a:p>
            <a:pPr>
              <a:spcBef>
                <a:spcPts val="300"/>
              </a:spcBef>
              <a:defRPr sz="1200"/>
            </a:pPr>
            <a:r>
              <a:t>• 4 disaster scenarios fully operational</a:t>
            </a:r>
          </a:p>
          <a:p>
            <a:pPr>
              <a:spcBef>
                <a:spcPts val="300"/>
              </a:spcBef>
              <a:defRPr sz="1200"/>
            </a:pPr>
            <a:r>
              <a:t>• Live battery management &amp; charging station logic</a:t>
            </a:r>
          </a:p>
          <a:p>
            <a:pPr>
              <a:spcBef>
                <a:spcPts val="300"/>
              </a:spcBef>
              <a:defRPr sz="1200"/>
            </a:pPr>
            <a:r>
              <a:t>• Orbit-based drone physics with micro-turbulence</a:t>
            </a:r>
          </a:p>
          <a:p>
            <a:pPr>
              <a:spcBef>
                <a:spcPts val="300"/>
              </a:spcBef>
              <a:defRPr sz="1200"/>
            </a:pPr>
            <a:r>
              <a:t>• Hazard zone avoidance (gas leaks, flooding, fire)</a:t>
            </a:r>
          </a:p>
          <a:p>
            <a:pPr>
              <a:spcBef>
                <a:spcPts val="300"/>
              </a:spcBef>
              <a:defRPr sz="1200"/>
            </a:pPr>
            <a:r>
              <a:t>• Web-based dashboard accessible from any device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B5FF-D8D4-4079-90BB-8D8138687927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5" y="372370"/>
            <a:ext cx="4787949" cy="445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Feasibility &amp; Impact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178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spcBef>
                <a:spcPts val="300"/>
              </a:spcBef>
              <a:defRPr sz="1200"/>
            </a:pPr>
            <a:r>
              <a:t>Real-world Applicability:</a:t>
            </a:r>
          </a:p>
          <a:p>
            <a:pPr>
              <a:spcBef>
                <a:spcPts val="300"/>
              </a:spcBef>
              <a:defRPr sz="1200"/>
            </a:pPr>
            <a:r>
              <a:t>✓ Deployable on DJI Matrice 300 RTK (baseline hardware)</a:t>
            </a:r>
          </a:p>
          <a:p>
            <a:pPr>
              <a:spcBef>
                <a:spcPts val="300"/>
              </a:spcBef>
              <a:defRPr sz="1200"/>
            </a:pPr>
            <a:r>
              <a:t>✓ Scalable to 10+ drones with proper load balancing</a:t>
            </a:r>
          </a:p>
          <a:p>
            <a:pPr>
              <a:spcBef>
                <a:spcPts val="300"/>
              </a:spcBef>
              <a:defRPr sz="1200"/>
            </a:pPr>
            <a:r>
              <a:t>✓ Applicable to earthquake, wildfire, flood, tsunami scenarios</a:t>
            </a:r>
          </a:p>
          <a:p>
            <a:pPr>
              <a:spcBef>
                <a:spcPts val="300"/>
              </a:spcBef>
              <a:defRPr sz="1200"/>
            </a:pPr>
          </a:p>
          <a:p>
            <a:pPr>
              <a:spcBef>
                <a:spcPts val="300"/>
              </a:spcBef>
              <a:defRPr sz="1200"/>
            </a:pPr>
            <a:r>
              <a:t>Social Impact:</a:t>
            </a:r>
          </a:p>
          <a:p>
            <a:pPr>
              <a:spcBef>
                <a:spcPts val="300"/>
              </a:spcBef>
              <a:defRPr sz="1200"/>
            </a:pPr>
            <a:r>
              <a:t>• Faster search &amp; rescue operations (minutes vs. hours)</a:t>
            </a:r>
          </a:p>
          <a:p>
            <a:pPr>
              <a:spcBef>
                <a:spcPts val="300"/>
              </a:spcBef>
              <a:defRPr sz="1200"/>
            </a:pPr>
            <a:r>
              <a:t>• Reduced risk to human rescue teams</a:t>
            </a:r>
          </a:p>
          <a:p>
            <a:pPr>
              <a:spcBef>
                <a:spcPts val="300"/>
              </a:spcBef>
              <a:defRPr sz="1200"/>
            </a:pPr>
            <a:r>
              <a:t>• Improved survivor detection rates in disaster zones</a:t>
            </a:r>
          </a:p>
          <a:p>
            <a:pPr>
              <a:spcBef>
                <a:spcPts val="300"/>
              </a:spcBef>
              <a:defRPr sz="1200"/>
            </a:pPr>
            <a:r>
              <a:t>• Reusable simulation for training &amp; planning</a:t>
            </a:r>
          </a:p>
          <a:p>
            <a:pPr>
              <a:spcBef>
                <a:spcPts val="300"/>
              </a:spcBef>
              <a:defRPr sz="1200"/>
            </a:pPr>
          </a:p>
          <a:p>
            <a:pPr>
              <a:spcBef>
                <a:spcPts val="300"/>
              </a:spcBef>
              <a:defRPr sz="1200"/>
            </a:pPr>
            <a:r>
              <a:t>Future Enhancements (Phase 1-4):</a:t>
            </a:r>
          </a:p>
          <a:p>
            <a:pPr>
              <a:spcBef>
                <a:spcPts val="300"/>
              </a:spcBef>
              <a:defRPr sz="1200"/>
            </a:pPr>
            <a:r>
              <a:t>• Implement RRT* 3D path planning with dynamic collision avoidance</a:t>
            </a:r>
          </a:p>
          <a:p>
            <a:pPr>
              <a:spcBef>
                <a:spcPts val="300"/>
              </a:spcBef>
              <a:defRPr sz="1200"/>
            </a:pPr>
            <a:r>
              <a:t>• Add realistic battery model (DJI Matrice 300 RTK specs)</a:t>
            </a:r>
          </a:p>
          <a:p>
            <a:pPr>
              <a:spcBef>
                <a:spcPts val="300"/>
              </a:spcBef>
              <a:defRPr sz="1200"/>
            </a:pPr>
            <a:r>
              <a:t>• Integrate ORB-SLAM2 for visual SLAM</a:t>
            </a:r>
          </a:p>
          <a:p>
            <a:pPr>
              <a:spcBef>
                <a:spcPts val="300"/>
              </a:spcBef>
              <a:defRPr sz="1200"/>
            </a:pPr>
            <a:r>
              <a:t>• Add YOLO object detection for autonomous threat identification</a:t>
            </a:r>
          </a:p>
          <a:p>
            <a:pPr>
              <a:spcBef>
                <a:spcPts val="300"/>
              </a:spcBef>
              <a:defRPr sz="1200"/>
            </a:pPr>
            <a:r>
              <a:t>• Hardware-in-the-loop simulation for real drone integration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E2DC-1EE4-4990-88C8-F6B0047E5106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5" y="372370"/>
            <a:ext cx="4787949" cy="445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392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Barlow Bold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3943" y="1088604"/>
            <a:ext cx="8196114" cy="1178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spcBef>
                <a:spcPts val="300"/>
              </a:spcBef>
              <a:defRPr sz="1200"/>
            </a:pPr>
            <a:r>
              <a:t>Summary:</a:t>
            </a:r>
          </a:p>
          <a:p>
            <a:pPr>
              <a:spcBef>
                <a:spcPts val="300"/>
              </a:spcBef>
              <a:defRPr sz="1200"/>
            </a:pPr>
            <a:r>
              <a:t>AEGIS v1 demonstrates a solid decentralized swarm architecture with real-time 3D visualization and multi-scenario disaster recovery simulation.</a:t>
            </a:r>
          </a:p>
          <a:p>
            <a:pPr>
              <a:spcBef>
                <a:spcPts val="300"/>
              </a:spcBef>
              <a:defRPr sz="1200"/>
            </a:pPr>
          </a:p>
          <a:p>
            <a:pPr>
              <a:spcBef>
                <a:spcPts val="300"/>
              </a:spcBef>
              <a:defRPr sz="1200"/>
            </a:pPr>
            <a:r>
              <a:t>Key Outcomes:</a:t>
            </a:r>
          </a:p>
          <a:p>
            <a:pPr>
              <a:spcBef>
                <a:spcPts val="300"/>
              </a:spcBef>
              <a:defRPr sz="1200"/>
            </a:pPr>
            <a:r>
              <a:t>✓ Fully operational mission control dashboard</a:t>
            </a:r>
          </a:p>
          <a:p>
            <a:pPr>
              <a:spcBef>
                <a:spcPts val="300"/>
              </a:spcBef>
              <a:defRPr sz="1200"/>
            </a:pPr>
            <a:r>
              <a:t>✓ Physics-based drone simulation (5 drones, 4 scenarios)</a:t>
            </a:r>
          </a:p>
          <a:p>
            <a:pPr>
              <a:spcBef>
                <a:spcPts val="300"/>
              </a:spcBef>
              <a:defRPr sz="1200"/>
            </a:pPr>
            <a:r>
              <a:t>✓ Real-time thermal imaging &amp; survivor detection</a:t>
            </a:r>
          </a:p>
          <a:p>
            <a:pPr>
              <a:spcBef>
                <a:spcPts val="300"/>
              </a:spcBef>
              <a:defRPr sz="1200"/>
            </a:pPr>
            <a:r>
              <a:t>✓ Comprehensive event logging &amp; telemetry</a:t>
            </a:r>
          </a:p>
          <a:p>
            <a:pPr>
              <a:spcBef>
                <a:spcPts val="300"/>
              </a:spcBef>
              <a:defRPr sz="1200"/>
            </a:pPr>
          </a:p>
          <a:p>
            <a:pPr>
              <a:spcBef>
                <a:spcPts val="300"/>
              </a:spcBef>
              <a:defRPr sz="1200"/>
            </a:pPr>
            <a:r>
              <a:t>Roadmap:</a:t>
            </a:r>
          </a:p>
          <a:p>
            <a:pPr>
              <a:spcBef>
                <a:spcPts val="300"/>
              </a:spcBef>
              <a:defRPr sz="1200"/>
            </a:pPr>
            <a:r>
              <a:t>Phase 1: Add research references + hardware constraints (1-2 weeks)</a:t>
            </a:r>
          </a:p>
          <a:p>
            <a:pPr>
              <a:spcBef>
                <a:spcPts val="300"/>
              </a:spcBef>
              <a:defRPr sz="1200"/>
            </a:pPr>
            <a:r>
              <a:t>Phase 2: Implement dynamic task allocation + RRT* planning (2-4 weeks)</a:t>
            </a:r>
          </a:p>
          <a:p>
            <a:pPr>
              <a:spcBef>
                <a:spcPts val="300"/>
              </a:spcBef>
              <a:defRPr sz="1200"/>
            </a:pPr>
            <a:r>
              <a:t>Phase 3: SLAM + YOLO integration + fault tolerance (1-2 months)</a:t>
            </a:r>
          </a:p>
          <a:p>
            <a:pPr>
              <a:spcBef>
                <a:spcPts val="300"/>
              </a:spcBef>
              <a:defRPr sz="1200"/>
            </a:pPr>
            <a:r>
              <a:t>Phase 4: Hardware trials + field deployment (ongoing)</a:t>
            </a:r>
          </a:p>
          <a:p>
            <a:pPr>
              <a:spcBef>
                <a:spcPts val="300"/>
              </a:spcBef>
              <a:defRPr sz="1200"/>
            </a:pPr>
          </a:p>
          <a:p>
            <a:pPr>
              <a:spcBef>
                <a:spcPts val="300"/>
              </a:spcBef>
              <a:defRPr sz="1200"/>
            </a:pPr>
            <a:r>
              <a:t>Team Status: Ready for Phase 1 implementation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5B24-D40A-4667-9DF4-E9AE2B60D39A}" type="datetime3">
              <a:rPr lang="en-US" smtClean="0"/>
              <a:t>18 May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223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85950"/>
            <a:ext cx="8229600" cy="971550"/>
          </a:xfrm>
        </p:spPr>
        <p:txBody>
          <a:bodyPr/>
          <a:lstStyle/>
          <a:p>
            <a:r>
              <a:rPr lang="en-IN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46FD1-89A1-4A16-B7FB-CE4A4C85D393}" type="datetime3">
              <a:rPr lang="en-US" smtClean="0"/>
              <a:t>18 May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3657600" cy="273844"/>
          </a:xfrm>
        </p:spPr>
        <p:txBody>
          <a:bodyPr/>
          <a:lstStyle/>
          <a:p>
            <a:r>
              <a:rPr lang="en-US" dirty="0" smtClean="0"/>
              <a:t>Smart Horizon 2026: 48 Hour International Hackathon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260</Words>
  <Application>Microsoft Office PowerPoint</Application>
  <PresentationFormat>On-screen Show (16:9)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Barlow Bold</vt:lpstr>
      <vt:lpstr>Calibri</vt:lpstr>
      <vt:lpstr>Montserrat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Suchith</dc:creator>
  <cp:lastModifiedBy>Dr. Sanjeev P Kaulgud</cp:lastModifiedBy>
  <cp:revision>19</cp:revision>
  <dcterms:created xsi:type="dcterms:W3CDTF">2006-08-16T00:00:00Z</dcterms:created>
  <dcterms:modified xsi:type="dcterms:W3CDTF">2026-05-18T05:00:02Z</dcterms:modified>
</cp:coreProperties>
</file>