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10"/>
  </p:notesMasterIdLst>
  <p:sldIdLst>
    <p:sldId id="270" r:id="rId2"/>
    <p:sldId id="263" r:id="rId3"/>
    <p:sldId id="264" r:id="rId4"/>
    <p:sldId id="265" r:id="rId5"/>
    <p:sldId id="266" r:id="rId6"/>
    <p:sldId id="267" r:id="rId7"/>
    <p:sldId id="269" r:id="rId8"/>
    <p:sldId id="268" r:id="rId9"/>
  </p:sldIdLst>
  <p:sldSz cx="9144000" cy="5143500" type="screen16x9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F497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30" autoAdjust="0"/>
    <p:restoredTop sz="94641" autoAdjust="0"/>
  </p:normalViewPr>
  <p:slideViewPr>
    <p:cSldViewPr>
      <p:cViewPr varScale="1">
        <p:scale>
          <a:sx n="92" d="100"/>
          <a:sy n="92" d="100"/>
        </p:scale>
        <p:origin x="672" y="78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C596F83-55EB-44FB-A6B6-44ED4DFC9222}" type="datetimeFigureOut">
              <a:rPr lang="en-US" smtClean="0"/>
              <a:pPr/>
              <a:t>5/18/2026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3C1A974-C3F6-467E-A719-7F0890CE6299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8D8F02-B8A6-4879-A35B-185A64064778}" type="datetime3">
              <a:rPr lang="en-US" smtClean="0"/>
              <a:t>18 May 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Smart Horizon 2026: 48 Hour International Hackathon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7" name="Image 0" descr="preencoded.png"/>
          <p:cNvPicPr>
            <a:picLocks noChangeAspect="1"/>
          </p:cNvPicPr>
          <p:nvPr userDrawn="1"/>
        </p:nvPicPr>
        <p:blipFill rotWithShape="1">
          <a:blip r:embed="rId2" cstate="print"/>
          <a:srcRect l="8776" r="12248" b="5973"/>
          <a:stretch/>
        </p:blipFill>
        <p:spPr>
          <a:xfrm>
            <a:off x="791617" y="168741"/>
            <a:ext cx="1189583" cy="498009"/>
          </a:xfrm>
          <a:prstGeom prst="rect">
            <a:avLst/>
          </a:prstGeom>
        </p:spPr>
      </p:pic>
      <p:pic>
        <p:nvPicPr>
          <p:cNvPr id="8" name="Image 1" descr="preencoded.png"/>
          <p:cNvPicPr>
            <a:picLocks noChangeAspect="1"/>
          </p:cNvPicPr>
          <p:nvPr userDrawn="1"/>
        </p:nvPicPr>
        <p:blipFill rotWithShape="1">
          <a:blip r:embed="rId3" cstate="print"/>
          <a:srcRect l="21941" t="15700" r="20440" b="5258"/>
          <a:stretch/>
        </p:blipFill>
        <p:spPr>
          <a:xfrm>
            <a:off x="3255791" y="209549"/>
            <a:ext cx="457200" cy="457201"/>
          </a:xfrm>
          <a:prstGeom prst="rect">
            <a:avLst/>
          </a:prstGeom>
        </p:spPr>
      </p:pic>
      <p:pic>
        <p:nvPicPr>
          <p:cNvPr id="9" name="Image 2" descr="preencoded.png"/>
          <p:cNvPicPr>
            <a:picLocks noChangeAspect="1"/>
          </p:cNvPicPr>
          <p:nvPr userDrawn="1"/>
        </p:nvPicPr>
        <p:blipFill>
          <a:blip r:embed="rId4" cstate="print"/>
          <a:stretch>
            <a:fillRect/>
          </a:stretch>
        </p:blipFill>
        <p:spPr>
          <a:xfrm>
            <a:off x="4987582" y="168741"/>
            <a:ext cx="655032" cy="491772"/>
          </a:xfrm>
          <a:prstGeom prst="rect">
            <a:avLst/>
          </a:prstGeom>
        </p:spPr>
      </p:pic>
      <p:pic>
        <p:nvPicPr>
          <p:cNvPr id="10" name="Image 3" descr="preencoded.png"/>
          <p:cNvPicPr>
            <a:picLocks noChangeAspect="1"/>
          </p:cNvPicPr>
          <p:nvPr userDrawn="1"/>
        </p:nvPicPr>
        <p:blipFill>
          <a:blip r:embed="rId5" cstate="print"/>
          <a:stretch>
            <a:fillRect/>
          </a:stretch>
        </p:blipFill>
        <p:spPr>
          <a:xfrm>
            <a:off x="6917205" y="168741"/>
            <a:ext cx="985905" cy="49113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6C8645-0AAE-46EA-9B87-9DCAAC54DBF6}" type="datetime3">
              <a:rPr lang="en-US" smtClean="0"/>
              <a:t>18 May 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Smart Horizon 2026: 48 Hour International Hackathon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7" name="Image 0" descr="preencoded.png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7543800" y="205979"/>
            <a:ext cx="1778000" cy="5334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1CD488-A5AA-4A9C-8A0D-81D20A346185}" type="datetime3">
              <a:rPr lang="en-US" smtClean="0"/>
              <a:t>18 May 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Smart Horizon 2026: 48 Hour International Hackathon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AF2CFD-23DE-40AF-8834-AA971663E69D}" type="datetime3">
              <a:rPr lang="en-US" smtClean="0"/>
              <a:t>18 May 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Smart Horizon 2026: 48 Hour International Hackathon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B614F7-7E8B-4795-932F-CCC9EB7C1F92}" type="datetime3">
              <a:rPr lang="en-US" smtClean="0"/>
              <a:t>18 May 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Smart Horizon 2026: 48 Hour International Hackathon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776F2C-25F0-46B7-90CC-F0982DBB91DA}" type="datetime3">
              <a:rPr lang="en-US" smtClean="0"/>
              <a:t>18 May 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Smart Horizon 2026: 48 Hour International Hackathon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7543800" y="205979"/>
            <a:ext cx="1778000" cy="5334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EC80B4-98CE-4B86-8BB8-F1A726332D0B}" type="datetime3">
              <a:rPr lang="en-US" smtClean="0"/>
              <a:t>18 May 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Smart Horizon 2026: 48 Hour International Hackathon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7543800" y="205979"/>
            <a:ext cx="1778000" cy="5334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3D1ED4-391A-4B7E-8EFC-1A7FD912E90A}" type="datetime3">
              <a:rPr lang="en-US" smtClean="0"/>
              <a:t>18 May 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Smart Horizon 2026: 48 Hour International Hackathon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2A3ADC-2D85-4C99-BC97-116048DC93F0}" type="datetime3">
              <a:rPr lang="en-US" smtClean="0"/>
              <a:t>18 May 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Smart Horizon 2026: 48 Hour International Hackathon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44C271-B0CA-4176-BE6B-23E60CA82DEC}" type="datetime3">
              <a:rPr lang="en-US" smtClean="0"/>
              <a:t>18 May 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Smart Horizon 2026: 48 Hour International Hackathon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821DAB-4D50-444A-82CD-4417F18812DB}" type="datetime3">
              <a:rPr lang="en-US" smtClean="0"/>
              <a:t>18 May 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Smart Horizon 2026: 48 Hour International Hackathon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B391C04-3B30-4C70-8E83-D2356E1EFC87}" type="datetime3">
              <a:rPr lang="en-US" smtClean="0"/>
              <a:t>18 May 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smtClean="0"/>
              <a:t>Smart Horizon 2026: 48 Hour International Hackathon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0"/>
          <p:cNvSpPr/>
          <p:nvPr/>
        </p:nvSpPr>
        <p:spPr>
          <a:xfrm>
            <a:off x="2579492" y="990156"/>
            <a:ext cx="1883941" cy="1172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defTabSz="640048">
              <a:lnSpc>
                <a:spcPts val="1015"/>
              </a:lnSpc>
            </a:pPr>
            <a:endParaRPr lang="en-US" sz="800" dirty="0">
              <a:solidFill>
                <a:prstClr val="black"/>
              </a:solidFill>
            </a:endParaRPr>
          </a:p>
        </p:txBody>
      </p:sp>
      <p:sp>
        <p:nvSpPr>
          <p:cNvPr id="6" name="Text 1"/>
          <p:cNvSpPr/>
          <p:nvPr/>
        </p:nvSpPr>
        <p:spPr>
          <a:xfrm>
            <a:off x="4694711" y="962398"/>
            <a:ext cx="1883941" cy="1172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defTabSz="640048">
              <a:lnSpc>
                <a:spcPts val="1015"/>
              </a:lnSpc>
            </a:pPr>
            <a:endParaRPr lang="en-US" sz="800" dirty="0">
              <a:solidFill>
                <a:prstClr val="black"/>
              </a:solidFill>
            </a:endParaRPr>
          </a:p>
        </p:txBody>
      </p:sp>
      <p:sp>
        <p:nvSpPr>
          <p:cNvPr id="8" name="Text 3"/>
          <p:cNvSpPr/>
          <p:nvPr/>
        </p:nvSpPr>
        <p:spPr>
          <a:xfrm>
            <a:off x="457200" y="678583"/>
            <a:ext cx="8215461" cy="7191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640048"/>
            <a:r>
              <a:rPr lang="en-US" sz="2800" b="1" dirty="0">
                <a:solidFill>
                  <a:srgbClr val="1F497D"/>
                </a:solidFill>
                <a:latin typeface="Times New Roman" panose="02020603050405020304" pitchFamily="18" charset="0"/>
                <a:ea typeface="Barlow Bold" pitchFamily="34" charset="-122"/>
                <a:cs typeface="Times New Roman" panose="02020603050405020304" pitchFamily="18" charset="0"/>
              </a:rPr>
              <a:t>Smart Horizon </a:t>
            </a:r>
            <a:r>
              <a:rPr lang="en-US" sz="2800" b="1" dirty="0" smtClean="0">
                <a:solidFill>
                  <a:srgbClr val="1F497D"/>
                </a:solidFill>
                <a:latin typeface="Times New Roman" panose="02020603050405020304" pitchFamily="18" charset="0"/>
                <a:ea typeface="Barlow Bold" pitchFamily="34" charset="-122"/>
                <a:cs typeface="Times New Roman" panose="02020603050405020304" pitchFamily="18" charset="0"/>
              </a:rPr>
              <a:t>2026:</a:t>
            </a:r>
          </a:p>
          <a:p>
            <a:pPr defTabSz="640048"/>
            <a:r>
              <a:rPr lang="en-US" sz="2800" b="1" dirty="0" smtClean="0">
                <a:solidFill>
                  <a:srgbClr val="1F497D"/>
                </a:solidFill>
                <a:latin typeface="Times New Roman" panose="02020603050405020304" pitchFamily="18" charset="0"/>
                <a:ea typeface="Barlow Bold" pitchFamily="34" charset="-122"/>
                <a:cs typeface="Times New Roman" panose="02020603050405020304" pitchFamily="18" charset="0"/>
              </a:rPr>
              <a:t>48-Hour </a:t>
            </a:r>
            <a:r>
              <a:rPr lang="en-US" sz="2800" b="1" dirty="0">
                <a:solidFill>
                  <a:srgbClr val="1F497D"/>
                </a:solidFill>
                <a:latin typeface="Times New Roman" panose="02020603050405020304" pitchFamily="18" charset="0"/>
                <a:ea typeface="Barlow Bold" pitchFamily="34" charset="-122"/>
                <a:cs typeface="Times New Roman" panose="02020603050405020304" pitchFamily="18" charset="0"/>
              </a:rPr>
              <a:t>International Hackathon</a:t>
            </a:r>
            <a:endParaRPr lang="en-US" sz="2800" dirty="0">
              <a:solidFill>
                <a:srgbClr val="1F497D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43" name="Group 42"/>
          <p:cNvGrpSpPr/>
          <p:nvPr/>
        </p:nvGrpSpPr>
        <p:grpSpPr>
          <a:xfrm>
            <a:off x="388849" y="1906581"/>
            <a:ext cx="8352161" cy="613711"/>
            <a:chOff x="300707" y="2006663"/>
            <a:chExt cx="8352161" cy="613711"/>
          </a:xfrm>
        </p:grpSpPr>
        <p:sp>
          <p:nvSpPr>
            <p:cNvPr id="9" name="Shape 4"/>
            <p:cNvSpPr/>
            <p:nvPr/>
          </p:nvSpPr>
          <p:spPr>
            <a:xfrm>
              <a:off x="300707" y="2006663"/>
              <a:ext cx="2702644" cy="594867"/>
            </a:xfrm>
            <a:prstGeom prst="roundRect">
              <a:avLst>
                <a:gd name="adj" fmla="val 480095"/>
              </a:avLst>
            </a:prstGeom>
            <a:solidFill>
              <a:schemeClr val="tx2"/>
            </a:solidFill>
            <a:ln w="7620">
              <a:solidFill>
                <a:srgbClr val="BACFDD"/>
              </a:solidFill>
              <a:prstDash val="solid"/>
            </a:ln>
          </p:spPr>
        </p:sp>
        <p:sp>
          <p:nvSpPr>
            <p:cNvPr id="10" name="Text 5"/>
            <p:cNvSpPr/>
            <p:nvPr/>
          </p:nvSpPr>
          <p:spPr>
            <a:xfrm>
              <a:off x="1305749" y="2085211"/>
              <a:ext cx="692560" cy="152698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defTabSz="640048">
                <a:lnSpc>
                  <a:spcPts val="1330"/>
                </a:lnSpc>
              </a:pPr>
              <a:r>
                <a:rPr lang="en-US" sz="1000" b="1" dirty="0" smtClean="0">
                  <a:solidFill>
                    <a:schemeClr val="bg1"/>
                  </a:solidFill>
                  <a:latin typeface="Times New Roman" panose="02020603050405020304" pitchFamily="18" charset="0"/>
                  <a:ea typeface="Barlow Bold" pitchFamily="34" charset="-122"/>
                  <a:cs typeface="Times New Roman" panose="02020603050405020304" pitchFamily="18" charset="0"/>
                </a:rPr>
                <a:t>Event Date</a:t>
              </a:r>
              <a:endParaRPr lang="en-US" sz="1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1" name="Text 6"/>
            <p:cNvSpPr/>
            <p:nvPr/>
          </p:nvSpPr>
          <p:spPr>
            <a:xfrm>
              <a:off x="393501" y="2404121"/>
              <a:ext cx="2517056" cy="117277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ctr" defTabSz="640048">
                <a:lnSpc>
                  <a:spcPts val="1015"/>
                </a:lnSpc>
              </a:pPr>
              <a:r>
                <a:rPr lang="en-US" sz="1200" b="1" dirty="0">
                  <a:solidFill>
                    <a:schemeClr val="bg1"/>
                  </a:solidFill>
                  <a:latin typeface="Times New Roman" panose="02020603050405020304" pitchFamily="18" charset="0"/>
                  <a:ea typeface="Montserrat" pitchFamily="34" charset="-122"/>
                  <a:cs typeface="Times New Roman" panose="02020603050405020304" pitchFamily="18" charset="0"/>
                </a:rPr>
                <a:t>September 3rd, 4th &amp; 5th, 2026</a:t>
              </a:r>
              <a:endParaRPr lang="en-US" sz="1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2" name="Shape 7"/>
            <p:cNvSpPr/>
            <p:nvPr/>
          </p:nvSpPr>
          <p:spPr>
            <a:xfrm>
              <a:off x="3037247" y="2019013"/>
              <a:ext cx="2912901" cy="594866"/>
            </a:xfrm>
            <a:prstGeom prst="roundRect">
              <a:avLst>
                <a:gd name="adj" fmla="val 480095"/>
              </a:avLst>
            </a:prstGeom>
            <a:solidFill>
              <a:schemeClr val="tx2"/>
            </a:solidFill>
            <a:ln w="7620">
              <a:solidFill>
                <a:srgbClr val="BACFDD"/>
              </a:solidFill>
              <a:prstDash val="solid"/>
            </a:ln>
          </p:spPr>
        </p:sp>
        <p:sp>
          <p:nvSpPr>
            <p:cNvPr id="13" name="Text 8"/>
            <p:cNvSpPr/>
            <p:nvPr/>
          </p:nvSpPr>
          <p:spPr>
            <a:xfrm>
              <a:off x="4362463" y="2084402"/>
              <a:ext cx="404933" cy="152698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defTabSz="640048">
                <a:lnSpc>
                  <a:spcPts val="1330"/>
                </a:lnSpc>
              </a:pPr>
              <a:r>
                <a:rPr lang="en-US" sz="1000" b="1" dirty="0">
                  <a:solidFill>
                    <a:schemeClr val="bg1"/>
                  </a:solidFill>
                  <a:latin typeface="Times New Roman" panose="02020603050405020304" pitchFamily="18" charset="0"/>
                  <a:ea typeface="Barlow Bold" pitchFamily="34" charset="-122"/>
                  <a:cs typeface="Times New Roman" panose="02020603050405020304" pitchFamily="18" charset="0"/>
                </a:rPr>
                <a:t>Venue</a:t>
              </a:r>
            </a:p>
          </p:txBody>
        </p:sp>
        <p:sp>
          <p:nvSpPr>
            <p:cNvPr id="14" name="Text 9"/>
            <p:cNvSpPr/>
            <p:nvPr/>
          </p:nvSpPr>
          <p:spPr>
            <a:xfrm>
              <a:off x="3235169" y="2340071"/>
              <a:ext cx="2517056" cy="248353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ctr" defTabSz="640048"/>
              <a:r>
                <a:rPr lang="en-US" sz="1200" b="1" dirty="0">
                  <a:solidFill>
                    <a:schemeClr val="bg1"/>
                  </a:solidFill>
                  <a:latin typeface="Times New Roman" panose="02020603050405020304" pitchFamily="18" charset="0"/>
                  <a:ea typeface="Montserrat" pitchFamily="34" charset="-122"/>
                  <a:cs typeface="Times New Roman" panose="02020603050405020304" pitchFamily="18" charset="0"/>
                </a:rPr>
                <a:t>New Horizon Knowledge </a:t>
              </a:r>
              <a:r>
                <a:rPr lang="en-US" sz="1200" b="1" dirty="0" smtClean="0">
                  <a:solidFill>
                    <a:schemeClr val="bg1"/>
                  </a:solidFill>
                  <a:latin typeface="Times New Roman" panose="02020603050405020304" pitchFamily="18" charset="0"/>
                  <a:ea typeface="Montserrat" pitchFamily="34" charset="-122"/>
                  <a:cs typeface="Times New Roman" panose="02020603050405020304" pitchFamily="18" charset="0"/>
                </a:rPr>
                <a:t>Park, Bengaluru</a:t>
              </a:r>
              <a:endParaRPr lang="en-US" sz="1200" b="1" dirty="0">
                <a:solidFill>
                  <a:schemeClr val="bg1"/>
                </a:solidFill>
                <a:latin typeface="Times New Roman" panose="02020603050405020304" pitchFamily="18" charset="0"/>
                <a:ea typeface="Montserrat" pitchFamily="34" charset="-122"/>
                <a:cs typeface="Times New Roman" panose="02020603050405020304" pitchFamily="18" charset="0"/>
              </a:endParaRPr>
            </a:p>
          </p:txBody>
        </p:sp>
        <p:sp>
          <p:nvSpPr>
            <p:cNvPr id="15" name="Shape 10"/>
            <p:cNvSpPr/>
            <p:nvPr/>
          </p:nvSpPr>
          <p:spPr>
            <a:xfrm>
              <a:off x="5950149" y="2025508"/>
              <a:ext cx="2702719" cy="594866"/>
            </a:xfrm>
            <a:prstGeom prst="roundRect">
              <a:avLst>
                <a:gd name="adj" fmla="val 480095"/>
              </a:avLst>
            </a:prstGeom>
            <a:solidFill>
              <a:schemeClr val="tx2"/>
            </a:solidFill>
            <a:ln w="7620">
              <a:solidFill>
                <a:srgbClr val="BACFDD"/>
              </a:solidFill>
              <a:prstDash val="solid"/>
            </a:ln>
          </p:spPr>
        </p:sp>
        <p:sp>
          <p:nvSpPr>
            <p:cNvPr id="16" name="Text 11"/>
            <p:cNvSpPr/>
            <p:nvPr/>
          </p:nvSpPr>
          <p:spPr>
            <a:xfrm>
              <a:off x="6947116" y="2084402"/>
              <a:ext cx="753281" cy="152698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defTabSz="640048">
                <a:lnSpc>
                  <a:spcPts val="1330"/>
                </a:lnSpc>
              </a:pPr>
              <a:r>
                <a:rPr lang="en-US" sz="1000" b="1" dirty="0">
                  <a:solidFill>
                    <a:schemeClr val="bg1"/>
                  </a:solidFill>
                  <a:latin typeface="Times New Roman" panose="02020603050405020304" pitchFamily="18" charset="0"/>
                  <a:ea typeface="Barlow Bold" pitchFamily="34" charset="-122"/>
                  <a:cs typeface="Times New Roman" panose="02020603050405020304" pitchFamily="18" charset="0"/>
                </a:rPr>
                <a:t>Host Institute</a:t>
              </a:r>
            </a:p>
          </p:txBody>
        </p:sp>
        <p:sp>
          <p:nvSpPr>
            <p:cNvPr id="17" name="Text 12"/>
            <p:cNvSpPr/>
            <p:nvPr/>
          </p:nvSpPr>
          <p:spPr>
            <a:xfrm>
              <a:off x="6031630" y="2378278"/>
              <a:ext cx="2584252" cy="168962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ctr" defTabSz="640048">
                <a:lnSpc>
                  <a:spcPts val="1015"/>
                </a:lnSpc>
              </a:pPr>
              <a:r>
                <a:rPr lang="en-US" sz="1200" b="1" dirty="0">
                  <a:solidFill>
                    <a:schemeClr val="bg1"/>
                  </a:solidFill>
                  <a:latin typeface="Times New Roman" panose="02020603050405020304" pitchFamily="18" charset="0"/>
                  <a:ea typeface="Montserrat" pitchFamily="34" charset="-122"/>
                  <a:cs typeface="Times New Roman" panose="02020603050405020304" pitchFamily="18" charset="0"/>
                </a:rPr>
                <a:t>New Horizon College of Engineering</a:t>
              </a:r>
            </a:p>
          </p:txBody>
        </p:sp>
      </p:grpSp>
      <p:sp>
        <p:nvSpPr>
          <p:cNvPr id="18" name="Text 13"/>
          <p:cNvSpPr/>
          <p:nvPr/>
        </p:nvSpPr>
        <p:spPr>
          <a:xfrm>
            <a:off x="457200" y="1635598"/>
            <a:ext cx="6034683" cy="2579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defTabSz="640048">
              <a:lnSpc>
                <a:spcPts val="1330"/>
              </a:lnSpc>
            </a:pPr>
            <a:r>
              <a:rPr lang="en-US" sz="1200" b="1" dirty="0">
                <a:solidFill>
                  <a:srgbClr val="2E3C4E"/>
                </a:solidFill>
                <a:latin typeface="Times New Roman" panose="02020603050405020304" pitchFamily="18" charset="0"/>
                <a:ea typeface="Barlow Bold" pitchFamily="34" charset="-122"/>
                <a:cs typeface="Times New Roman" panose="02020603050405020304" pitchFamily="18" charset="0"/>
              </a:rPr>
              <a:t>Organized by: Dept. of Artificial Intelligence and Machine Learning &amp; Dept. of Computer Science and Engineering</a:t>
            </a:r>
            <a:endParaRPr lang="en-US" sz="1200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7" name="Text 13"/>
          <p:cNvSpPr/>
          <p:nvPr/>
        </p:nvSpPr>
        <p:spPr>
          <a:xfrm>
            <a:off x="395776" y="2687407"/>
            <a:ext cx="7989312" cy="4114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defTabSz="640048">
              <a:lnSpc>
                <a:spcPts val="1330"/>
              </a:lnSpc>
            </a:pPr>
            <a:r>
              <a:rPr lang="en-IN" sz="1600" b="1" dirty="0" smtClean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Title: Enter your proposed solution title here</a:t>
            </a:r>
            <a:endParaRPr lang="en-US" sz="1600" b="1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39" name="Table 3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94971548"/>
              </p:ext>
            </p:extLst>
          </p:nvPr>
        </p:nvGraphicFramePr>
        <p:xfrm>
          <a:off x="1056671" y="3257550"/>
          <a:ext cx="3326834" cy="18288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326834">
                  <a:extLst>
                    <a:ext uri="{9D8B030D-6E8A-4147-A177-3AD203B41FA5}">
                      <a16:colId xmlns:a16="http://schemas.microsoft.com/office/drawing/2014/main" val="3154602362"/>
                    </a:ext>
                  </a:extLst>
                </a:gridCol>
              </a:tblGrid>
              <a:tr h="252755">
                <a:tc>
                  <a:txBody>
                    <a:bodyPr/>
                    <a:lstStyle/>
                    <a:p>
                      <a:pPr algn="ctr"/>
                      <a:r>
                        <a:rPr lang="en-GB" sz="1400" b="1" dirty="0" smtClean="0">
                          <a:solidFill>
                            <a:schemeClr val="bg1"/>
                          </a:solidFill>
                        </a:rPr>
                        <a:t>Team</a:t>
                      </a:r>
                      <a:r>
                        <a:rPr lang="en-GB" sz="1400" b="1" baseline="0" dirty="0" smtClean="0">
                          <a:solidFill>
                            <a:schemeClr val="bg1"/>
                          </a:solidFill>
                        </a:rPr>
                        <a:t> Members</a:t>
                      </a:r>
                      <a:endParaRPr lang="en-GB" sz="14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35758296"/>
                  </a:ext>
                </a:extLst>
              </a:tr>
              <a:tr h="252755">
                <a:tc>
                  <a:txBody>
                    <a:bodyPr/>
                    <a:lstStyle/>
                    <a:p>
                      <a:r>
                        <a:rPr lang="en-GB" sz="1400" dirty="0" smtClean="0"/>
                        <a:t>1. </a:t>
                      </a:r>
                      <a:endParaRPr lang="en-GB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322537897"/>
                  </a:ext>
                </a:extLst>
              </a:tr>
              <a:tr h="252755">
                <a:tc>
                  <a:txBody>
                    <a:bodyPr/>
                    <a:lstStyle/>
                    <a:p>
                      <a:r>
                        <a:rPr lang="en-GB" sz="1400" dirty="0" smtClean="0"/>
                        <a:t>2. </a:t>
                      </a:r>
                      <a:endParaRPr lang="en-GB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88951624"/>
                  </a:ext>
                </a:extLst>
              </a:tr>
              <a:tr h="252755">
                <a:tc>
                  <a:txBody>
                    <a:bodyPr/>
                    <a:lstStyle/>
                    <a:p>
                      <a:r>
                        <a:rPr lang="en-GB" sz="1400" dirty="0" smtClean="0"/>
                        <a:t>3. </a:t>
                      </a:r>
                      <a:endParaRPr lang="en-GB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836322055"/>
                  </a:ext>
                </a:extLst>
              </a:tr>
              <a:tr h="252755">
                <a:tc>
                  <a:txBody>
                    <a:bodyPr/>
                    <a:lstStyle/>
                    <a:p>
                      <a:r>
                        <a:rPr lang="en-GB" sz="1400" dirty="0" smtClean="0"/>
                        <a:t>4. </a:t>
                      </a:r>
                      <a:endParaRPr lang="en-GB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196001403"/>
                  </a:ext>
                </a:extLst>
              </a:tr>
              <a:tr h="252755">
                <a:tc>
                  <a:txBody>
                    <a:bodyPr/>
                    <a:lstStyle/>
                    <a:p>
                      <a:r>
                        <a:rPr lang="en-GB" sz="1400" dirty="0" smtClean="0"/>
                        <a:t>5. </a:t>
                      </a:r>
                      <a:endParaRPr lang="en-GB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850444440"/>
                  </a:ext>
                </a:extLst>
              </a:tr>
            </a:tbl>
          </a:graphicData>
        </a:graphic>
      </p:graphicFrame>
      <p:graphicFrame>
        <p:nvGraphicFramePr>
          <p:cNvPr id="40" name="Table 3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29356568"/>
              </p:ext>
            </p:extLst>
          </p:nvPr>
        </p:nvGraphicFramePr>
        <p:xfrm>
          <a:off x="4907273" y="3257550"/>
          <a:ext cx="3342758" cy="18288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342758">
                  <a:extLst>
                    <a:ext uri="{9D8B030D-6E8A-4147-A177-3AD203B41FA5}">
                      <a16:colId xmlns:a16="http://schemas.microsoft.com/office/drawing/2014/main" val="3154602362"/>
                    </a:ext>
                  </a:extLst>
                </a:gridCol>
              </a:tblGrid>
              <a:tr h="278155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GB" sz="1400" b="1" kern="1200" dirty="0" smtClean="0">
                          <a:solidFill>
                            <a:schemeClr val="bg1"/>
                          </a:solidFill>
                        </a:rPr>
                        <a:t>Team Details</a:t>
                      </a:r>
                      <a:endParaRPr lang="en-GB" sz="14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35758296"/>
                  </a:ext>
                </a:extLst>
              </a:tr>
              <a:tr h="278155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GB" sz="1400" kern="1200" dirty="0" smtClean="0"/>
                        <a:t>Team ID</a:t>
                      </a:r>
                      <a:endParaRPr lang="en-GB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322537897"/>
                  </a:ext>
                </a:extLst>
              </a:tr>
              <a:tr h="278155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GB" sz="1400" kern="1200" dirty="0" smtClean="0"/>
                        <a:t>Team Name </a:t>
                      </a:r>
                      <a:endParaRPr lang="en-GB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88951624"/>
                  </a:ext>
                </a:extLst>
              </a:tr>
              <a:tr h="278155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GB" sz="1400" kern="1200" dirty="0" smtClean="0"/>
                        <a:t>Team Lead</a:t>
                      </a:r>
                      <a:endParaRPr lang="en-GB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836322055"/>
                  </a:ext>
                </a:extLst>
              </a:tr>
              <a:tr h="278155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GB" sz="1400" kern="1200" dirty="0" smtClean="0"/>
                        <a:t>College Name</a:t>
                      </a:r>
                      <a:endParaRPr lang="en-GB" sz="1400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196001403"/>
                  </a:ext>
                </a:extLst>
              </a:tr>
              <a:tr h="278155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GB" sz="1400" kern="1200" dirty="0" smtClean="0"/>
                        <a:t>Problem Statement ID</a:t>
                      </a:r>
                      <a:endParaRPr lang="en-GB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850444440"/>
                  </a:ext>
                </a:extLst>
              </a:tr>
            </a:tbl>
          </a:graphicData>
        </a:graphic>
      </p:graphicFrame>
      <p:sp>
        <p:nvSpPr>
          <p:cNvPr id="41" name="Shape 4"/>
          <p:cNvSpPr/>
          <p:nvPr/>
        </p:nvSpPr>
        <p:spPr>
          <a:xfrm>
            <a:off x="7487333" y="894865"/>
            <a:ext cx="1213611" cy="502874"/>
          </a:xfrm>
          <a:prstGeom prst="roundRect">
            <a:avLst>
              <a:gd name="adj" fmla="val 480095"/>
            </a:avLst>
          </a:prstGeom>
          <a:solidFill>
            <a:schemeClr val="tx2"/>
          </a:solidFill>
          <a:ln w="7620">
            <a:solidFill>
              <a:srgbClr val="BACFDD"/>
            </a:solidFill>
            <a:prstDash val="solid"/>
          </a:ln>
        </p:spPr>
      </p:sp>
      <p:sp>
        <p:nvSpPr>
          <p:cNvPr id="42" name="Text 6"/>
          <p:cNvSpPr/>
          <p:nvPr/>
        </p:nvSpPr>
        <p:spPr>
          <a:xfrm>
            <a:off x="7741100" y="1107433"/>
            <a:ext cx="777742" cy="1204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defTabSz="640048">
              <a:lnSpc>
                <a:spcPts val="1015"/>
              </a:lnSpc>
            </a:pPr>
            <a:r>
              <a:rPr lang="en-US" sz="1600" b="1" dirty="0" smtClean="0">
                <a:solidFill>
                  <a:schemeClr val="bg1"/>
                </a:solidFill>
                <a:latin typeface="Times New Roman" panose="02020603050405020304" pitchFamily="18" charset="0"/>
                <a:ea typeface="Montserrat" pitchFamily="34" charset="-122"/>
                <a:cs typeface="Times New Roman" panose="02020603050405020304" pitchFamily="18" charset="0"/>
              </a:rPr>
              <a:t>Level-1</a:t>
            </a:r>
            <a:endParaRPr lang="en-US" sz="16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207521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3943" y="372370"/>
            <a:ext cx="6765058" cy="599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defTabSz="640048">
              <a:lnSpc>
                <a:spcPts val="3920"/>
              </a:lnSpc>
            </a:pPr>
            <a:r>
              <a:rPr lang="en-US" sz="24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ea typeface="Barlow Bold" pitchFamily="34" charset="-122"/>
                <a:cs typeface="Times New Roman" panose="02020603050405020304" pitchFamily="18" charset="0"/>
              </a:rPr>
              <a:t>Problem </a:t>
            </a:r>
            <a:r>
              <a:rPr lang="en-US" sz="2400" b="1" dirty="0" smtClean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ea typeface="Barlow Bold" pitchFamily="34" charset="-122"/>
                <a:cs typeface="Times New Roman" panose="02020603050405020304" pitchFamily="18" charset="0"/>
              </a:rPr>
              <a:t>Understanding</a:t>
            </a:r>
            <a:endParaRPr lang="en-US" sz="2400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473943" y="1088604"/>
            <a:ext cx="8196114" cy="11021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40018" indent="-240018" defTabSz="640048">
              <a:lnSpc>
                <a:spcPts val="1890"/>
              </a:lnSpc>
              <a:buSzPct val="100000"/>
              <a:buFontTx/>
              <a:buChar char="•"/>
            </a:pPr>
            <a:r>
              <a:rPr lang="en-GB" sz="12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Problem </a:t>
            </a:r>
            <a:r>
              <a:rPr lang="en-GB" sz="1200" dirty="0" smtClean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description</a:t>
            </a:r>
          </a:p>
          <a:p>
            <a:pPr marL="240018" indent="-240018" defTabSz="640048">
              <a:lnSpc>
                <a:spcPts val="1890"/>
              </a:lnSpc>
              <a:buSzPct val="100000"/>
              <a:buFontTx/>
              <a:buChar char="•"/>
            </a:pPr>
            <a:r>
              <a:rPr lang="en-GB" sz="1200" dirty="0" smtClean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Existing challenges/issues.</a:t>
            </a:r>
          </a:p>
          <a:p>
            <a:pPr marL="240018" indent="-240018" defTabSz="640048">
              <a:lnSpc>
                <a:spcPts val="1890"/>
              </a:lnSpc>
              <a:buSzPct val="100000"/>
              <a:buFontTx/>
              <a:buChar char="•"/>
            </a:pPr>
            <a:r>
              <a:rPr lang="en-GB" sz="1200" dirty="0" smtClean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Target users/stakeholders.</a:t>
            </a:r>
          </a:p>
          <a:p>
            <a:pPr marL="240018" indent="-240018" defTabSz="640048">
              <a:lnSpc>
                <a:spcPts val="1890"/>
              </a:lnSpc>
              <a:buSzPct val="100000"/>
              <a:buFontTx/>
              <a:buChar char="•"/>
            </a:pPr>
            <a:r>
              <a:rPr lang="en-GB" sz="1200" dirty="0" smtClean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Need </a:t>
            </a:r>
            <a:r>
              <a:rPr lang="en-GB" sz="12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for the solution</a:t>
            </a:r>
            <a:endParaRPr lang="en-US" sz="1200" dirty="0">
              <a:solidFill>
                <a:prstClr val="black"/>
              </a:solidFill>
            </a:endParaRP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11B5B-F9C8-4AE7-BC3B-3C34EE39BCA4}" type="datetime3">
              <a:rPr lang="en-US" smtClean="0"/>
              <a:t>18 May 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2743200" y="4767263"/>
            <a:ext cx="3657600" cy="273844"/>
          </a:xfrm>
        </p:spPr>
        <p:txBody>
          <a:bodyPr/>
          <a:lstStyle/>
          <a:p>
            <a:r>
              <a:rPr lang="en-US" dirty="0" smtClean="0"/>
              <a:t>Smart Horizon 2026: 48 Hour International Hackathon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3942" y="285750"/>
            <a:ext cx="4783857" cy="5320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defTabSz="640048">
              <a:lnSpc>
                <a:spcPts val="3920"/>
              </a:lnSpc>
            </a:pPr>
            <a:r>
              <a:rPr lang="en-US" sz="24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ea typeface="Barlow Bold" pitchFamily="34" charset="-122"/>
                <a:cs typeface="Times New Roman" panose="02020603050405020304" pitchFamily="18" charset="0"/>
              </a:rPr>
              <a:t>Proposed Solution &amp; Innovation</a:t>
            </a:r>
            <a:endParaRPr lang="en-US" sz="2400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473943" y="1088604"/>
            <a:ext cx="8196114" cy="10259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40018" indent="-240018" defTabSz="640048">
              <a:lnSpc>
                <a:spcPts val="1890"/>
              </a:lnSpc>
              <a:buSzPct val="100000"/>
              <a:buFontTx/>
              <a:buChar char="•"/>
            </a:pPr>
            <a:r>
              <a:rPr lang="en-GB" sz="12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Overview of proposed </a:t>
            </a:r>
            <a:r>
              <a:rPr lang="en-GB" sz="1200" dirty="0" smtClean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solution.</a:t>
            </a:r>
          </a:p>
          <a:p>
            <a:pPr marL="240018" indent="-240018" defTabSz="640048">
              <a:lnSpc>
                <a:spcPts val="1890"/>
              </a:lnSpc>
              <a:buSzPct val="100000"/>
              <a:buFontTx/>
              <a:buChar char="•"/>
            </a:pPr>
            <a:r>
              <a:rPr lang="en-GB" sz="1200" dirty="0" smtClean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Key features/modules.</a:t>
            </a:r>
          </a:p>
          <a:p>
            <a:pPr marL="240018" indent="-240018" defTabSz="640048">
              <a:lnSpc>
                <a:spcPts val="1890"/>
              </a:lnSpc>
              <a:buSzPct val="100000"/>
              <a:buFontTx/>
              <a:buChar char="•"/>
            </a:pPr>
            <a:r>
              <a:rPr lang="en-GB" sz="1200" dirty="0" smtClean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Innovation </a:t>
            </a:r>
            <a:r>
              <a:rPr lang="en-GB" sz="12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and </a:t>
            </a:r>
            <a:r>
              <a:rPr lang="en-GB" sz="1200" dirty="0" smtClean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uniqueness.</a:t>
            </a:r>
          </a:p>
          <a:p>
            <a:pPr marL="240018" indent="-240018" defTabSz="640048">
              <a:lnSpc>
                <a:spcPts val="1890"/>
              </a:lnSpc>
              <a:buSzPct val="100000"/>
              <a:buFontTx/>
              <a:buChar char="•"/>
            </a:pPr>
            <a:r>
              <a:rPr lang="en-GB" sz="1200" dirty="0" smtClean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Comparison </a:t>
            </a:r>
            <a:r>
              <a:rPr lang="en-GB" sz="12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with existing approaches (if any)</a:t>
            </a:r>
            <a:endParaRPr lang="en-US" sz="1200" dirty="0">
              <a:solidFill>
                <a:prstClr val="black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2BA806-0788-484F-A472-030E326740C8}" type="datetime3">
              <a:rPr lang="en-US" smtClean="0"/>
              <a:t>18 May 2026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</a:t>
            </a:fld>
            <a:endParaRPr lang="en-US"/>
          </a:p>
        </p:txBody>
      </p:sp>
      <p:sp>
        <p:nvSpPr>
          <p:cNvPr id="9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2743200" y="4767263"/>
            <a:ext cx="3657600" cy="273844"/>
          </a:xfrm>
        </p:spPr>
        <p:txBody>
          <a:bodyPr/>
          <a:lstStyle/>
          <a:p>
            <a:r>
              <a:rPr lang="en-US" dirty="0" smtClean="0"/>
              <a:t>Smart Horizon 2026: 48 Hour International Hackathon</a:t>
            </a:r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3943" y="361950"/>
            <a:ext cx="3563466" cy="4558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defTabSz="640048">
              <a:lnSpc>
                <a:spcPts val="3920"/>
              </a:lnSpc>
            </a:pPr>
            <a:r>
              <a:rPr lang="en-US" sz="24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ea typeface="Barlow Bold" pitchFamily="34" charset="-122"/>
                <a:cs typeface="Times New Roman" panose="02020603050405020304" pitchFamily="18" charset="0"/>
              </a:rPr>
              <a:t>Technical Architecture</a:t>
            </a:r>
            <a:endParaRPr lang="en-US" sz="2400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473943" y="1088604"/>
            <a:ext cx="8196114" cy="11021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40018" indent="-240018" defTabSz="640048">
              <a:lnSpc>
                <a:spcPts val="1890"/>
              </a:lnSpc>
              <a:buSzPct val="100000"/>
              <a:buFontTx/>
              <a:buChar char="•"/>
            </a:pPr>
            <a:r>
              <a:rPr lang="en-GB" sz="12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System architecture/workflow </a:t>
            </a:r>
            <a:r>
              <a:rPr lang="en-GB" sz="1200" dirty="0" smtClean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diagram.</a:t>
            </a:r>
          </a:p>
          <a:p>
            <a:pPr marL="240018" indent="-240018" defTabSz="640048">
              <a:lnSpc>
                <a:spcPts val="1890"/>
              </a:lnSpc>
              <a:buSzPct val="100000"/>
              <a:buFontTx/>
              <a:buChar char="•"/>
            </a:pPr>
            <a:r>
              <a:rPr lang="en-GB" sz="1200" dirty="0" smtClean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Technologies</a:t>
            </a:r>
            <a:r>
              <a:rPr lang="en-GB" sz="12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, tools, frameworks, APIs </a:t>
            </a:r>
            <a:r>
              <a:rPr lang="en-GB" sz="1200" dirty="0" smtClean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used.</a:t>
            </a:r>
          </a:p>
          <a:p>
            <a:pPr marL="240018" indent="-240018" defTabSz="640048">
              <a:lnSpc>
                <a:spcPts val="1890"/>
              </a:lnSpc>
              <a:buSzPct val="100000"/>
              <a:buFontTx/>
              <a:buChar char="•"/>
            </a:pPr>
            <a:r>
              <a:rPr lang="en-GB" sz="1200" dirty="0" smtClean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Methodology/approach.</a:t>
            </a:r>
          </a:p>
          <a:p>
            <a:pPr marL="240018" indent="-240018" defTabSz="640048">
              <a:lnSpc>
                <a:spcPts val="1890"/>
              </a:lnSpc>
              <a:buSzPct val="100000"/>
              <a:buFontTx/>
              <a:buChar char="•"/>
            </a:pPr>
            <a:r>
              <a:rPr lang="en-GB" sz="1200" dirty="0" smtClean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Scalability </a:t>
            </a:r>
            <a:r>
              <a:rPr lang="en-GB" sz="12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and security considerations</a:t>
            </a:r>
            <a:endParaRPr lang="en-US" sz="1200" dirty="0">
              <a:solidFill>
                <a:prstClr val="black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DC79FE-672B-43FD-8EEE-5F62076411EE}" type="datetime3">
              <a:rPr lang="en-US" smtClean="0"/>
              <a:t>18 May 2026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4</a:t>
            </a:fld>
            <a:endParaRPr lang="en-US"/>
          </a:p>
        </p:txBody>
      </p:sp>
      <p:sp>
        <p:nvSpPr>
          <p:cNvPr id="9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2743200" y="4767263"/>
            <a:ext cx="3657600" cy="273844"/>
          </a:xfrm>
        </p:spPr>
        <p:txBody>
          <a:bodyPr/>
          <a:lstStyle/>
          <a:p>
            <a:r>
              <a:rPr lang="en-US" dirty="0" smtClean="0"/>
              <a:t>Smart Horizon 2026: 48 Hour International Hackathon</a:t>
            </a:r>
            <a:endParaRPr 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3943" y="372370"/>
            <a:ext cx="3563466" cy="4454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defTabSz="640048">
              <a:lnSpc>
                <a:spcPts val="3920"/>
              </a:lnSpc>
            </a:pPr>
            <a:r>
              <a:rPr lang="en-US" sz="24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ea typeface="Barlow Bold" pitchFamily="34" charset="-122"/>
                <a:cs typeface="Times New Roman" panose="02020603050405020304" pitchFamily="18" charset="0"/>
              </a:rPr>
              <a:t>Implementation / Prototype</a:t>
            </a:r>
            <a:endParaRPr lang="en-US" sz="2400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473943" y="1088604"/>
            <a:ext cx="8196114" cy="10259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240018" indent="-240018" defTabSz="640048">
              <a:lnSpc>
                <a:spcPts val="1890"/>
              </a:lnSpc>
              <a:buSzPct val="100000"/>
              <a:buFontTx/>
              <a:buChar char="•"/>
            </a:pPr>
            <a:r>
              <a:rPr lang="en-GB" sz="12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Prototype screenshots/</a:t>
            </a:r>
            <a:r>
              <a:rPr lang="en-GB" sz="1200" dirty="0" err="1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mockups</a:t>
            </a:r>
            <a:r>
              <a:rPr lang="en-GB" sz="12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/demo </a:t>
            </a:r>
            <a:r>
              <a:rPr lang="en-GB" sz="1200" dirty="0" smtClean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flow.</a:t>
            </a:r>
          </a:p>
          <a:p>
            <a:pPr marL="240018" indent="-240018" defTabSz="640048">
              <a:lnSpc>
                <a:spcPts val="1890"/>
              </a:lnSpc>
              <a:buSzPct val="100000"/>
              <a:buFontTx/>
              <a:buChar char="•"/>
            </a:pPr>
            <a:r>
              <a:rPr lang="en-GB" sz="1200" dirty="0" smtClean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Dataset </a:t>
            </a:r>
            <a:r>
              <a:rPr lang="en-GB" sz="12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or input details (if applicable</a:t>
            </a:r>
            <a:r>
              <a:rPr lang="en-GB" sz="1200" dirty="0" smtClean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).</a:t>
            </a:r>
          </a:p>
          <a:p>
            <a:pPr marL="240018" indent="-240018" defTabSz="640048">
              <a:lnSpc>
                <a:spcPts val="1890"/>
              </a:lnSpc>
              <a:buSzPct val="100000"/>
              <a:buFontTx/>
              <a:buChar char="•"/>
            </a:pPr>
            <a:r>
              <a:rPr lang="en-GB" sz="1200" dirty="0" smtClean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Expected </a:t>
            </a:r>
            <a:r>
              <a:rPr lang="en-GB" sz="12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working </a:t>
            </a:r>
            <a:r>
              <a:rPr lang="en-GB" sz="1200" dirty="0" smtClean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mechanism.</a:t>
            </a:r>
          </a:p>
          <a:p>
            <a:pPr marL="240018" indent="-240018" defTabSz="640048">
              <a:lnSpc>
                <a:spcPts val="1890"/>
              </a:lnSpc>
              <a:buSzPct val="100000"/>
              <a:buFontTx/>
              <a:buChar char="•"/>
            </a:pPr>
            <a:r>
              <a:rPr lang="en-GB" sz="1200" dirty="0" smtClean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Key </a:t>
            </a:r>
            <a:r>
              <a:rPr lang="en-GB" sz="12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functionalities</a:t>
            </a:r>
            <a:endParaRPr lang="en-US" sz="1200" dirty="0">
              <a:solidFill>
                <a:prstClr val="black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10B5FF-D8D4-4079-90BB-8D8138687927}" type="datetime3">
              <a:rPr lang="en-US" smtClean="0"/>
              <a:t>18 May 2026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5</a:t>
            </a:fld>
            <a:endParaRPr lang="en-US"/>
          </a:p>
        </p:txBody>
      </p:sp>
      <p:sp>
        <p:nvSpPr>
          <p:cNvPr id="11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2743200" y="4767263"/>
            <a:ext cx="3657600" cy="273844"/>
          </a:xfrm>
        </p:spPr>
        <p:txBody>
          <a:bodyPr/>
          <a:lstStyle/>
          <a:p>
            <a:r>
              <a:rPr lang="en-US" dirty="0" smtClean="0"/>
              <a:t>Smart Horizon 2026: 48 Hour International Hackathon</a:t>
            </a:r>
            <a:endParaRPr 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3945" y="372370"/>
            <a:ext cx="4787949" cy="4454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defTabSz="640048">
              <a:lnSpc>
                <a:spcPts val="3920"/>
              </a:lnSpc>
            </a:pPr>
            <a:r>
              <a:rPr lang="en-US" sz="24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ea typeface="Barlow Bold" pitchFamily="34" charset="-122"/>
                <a:cs typeface="Times New Roman" panose="02020603050405020304" pitchFamily="18" charset="0"/>
              </a:rPr>
              <a:t>Feasibility &amp; Impact</a:t>
            </a:r>
            <a:endParaRPr lang="en-US" sz="2400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473943" y="1088604"/>
            <a:ext cx="8196114" cy="11783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240018" indent="-240018" defTabSz="640048">
              <a:lnSpc>
                <a:spcPts val="1890"/>
              </a:lnSpc>
              <a:buSzPct val="100000"/>
              <a:buFontTx/>
              <a:buChar char="•"/>
            </a:pPr>
            <a:r>
              <a:rPr lang="en-GB" sz="12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Real-world </a:t>
            </a:r>
            <a:r>
              <a:rPr lang="en-GB" sz="1200" dirty="0" smtClean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applicability</a:t>
            </a:r>
          </a:p>
          <a:p>
            <a:pPr marL="240018" indent="-240018" defTabSz="640048">
              <a:lnSpc>
                <a:spcPts val="1890"/>
              </a:lnSpc>
              <a:buSzPct val="100000"/>
              <a:buFontTx/>
              <a:buChar char="•"/>
            </a:pPr>
            <a:r>
              <a:rPr lang="en-GB" sz="1200" dirty="0" smtClean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Scalability </a:t>
            </a:r>
            <a:r>
              <a:rPr lang="en-GB" sz="12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and </a:t>
            </a:r>
            <a:r>
              <a:rPr lang="en-GB" sz="1200" dirty="0" smtClean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sustainability</a:t>
            </a:r>
          </a:p>
          <a:p>
            <a:pPr marL="240018" indent="-240018" defTabSz="640048">
              <a:lnSpc>
                <a:spcPts val="1890"/>
              </a:lnSpc>
              <a:buSzPct val="100000"/>
              <a:buFontTx/>
              <a:buChar char="•"/>
            </a:pPr>
            <a:r>
              <a:rPr lang="en-GB" sz="1200" dirty="0" smtClean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Expected </a:t>
            </a:r>
            <a:r>
              <a:rPr lang="en-GB" sz="12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social/business/environmental </a:t>
            </a:r>
            <a:r>
              <a:rPr lang="en-GB" sz="1200" dirty="0" smtClean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impact</a:t>
            </a:r>
          </a:p>
          <a:p>
            <a:pPr marL="240018" indent="-240018" defTabSz="640048">
              <a:lnSpc>
                <a:spcPts val="1890"/>
              </a:lnSpc>
              <a:buSzPct val="100000"/>
              <a:buFontTx/>
              <a:buChar char="•"/>
            </a:pPr>
            <a:r>
              <a:rPr lang="en-GB" sz="1200" dirty="0" smtClean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Future </a:t>
            </a:r>
            <a:r>
              <a:rPr lang="en-GB" sz="12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enhancements</a:t>
            </a:r>
            <a:endParaRPr lang="en-US" sz="1200" dirty="0">
              <a:solidFill>
                <a:prstClr val="black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5DE2DC-1EE4-4990-88C8-F6B0047E5106}" type="datetime3">
              <a:rPr lang="en-US" smtClean="0"/>
              <a:t>18 May 2026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6</a:t>
            </a:fld>
            <a:endParaRPr lang="en-US"/>
          </a:p>
        </p:txBody>
      </p:sp>
      <p:sp>
        <p:nvSpPr>
          <p:cNvPr id="7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2743200" y="4767263"/>
            <a:ext cx="3657600" cy="273844"/>
          </a:xfrm>
        </p:spPr>
        <p:txBody>
          <a:bodyPr/>
          <a:lstStyle/>
          <a:p>
            <a:r>
              <a:rPr lang="en-US" dirty="0" smtClean="0"/>
              <a:t>Smart Horizon 2026: 48 Hour International Hackathon</a:t>
            </a:r>
            <a:endParaRPr 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3945" y="372370"/>
            <a:ext cx="4787949" cy="4454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defTabSz="640048">
              <a:lnSpc>
                <a:spcPts val="3920"/>
              </a:lnSpc>
            </a:pPr>
            <a:r>
              <a:rPr lang="en-US" sz="24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ea typeface="Barlow Bold" pitchFamily="34" charset="-122"/>
                <a:cs typeface="Times New Roman" panose="02020603050405020304" pitchFamily="18" charset="0"/>
              </a:rPr>
              <a:t>Conclusion</a:t>
            </a:r>
            <a:endParaRPr lang="en-US" sz="2400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473943" y="1088604"/>
            <a:ext cx="8196114" cy="11783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240018" indent="-240018" defTabSz="640048">
              <a:lnSpc>
                <a:spcPts val="1890"/>
              </a:lnSpc>
              <a:buSzPct val="100000"/>
              <a:buFontTx/>
              <a:buChar char="•"/>
            </a:pPr>
            <a:r>
              <a:rPr lang="en-GB" sz="12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Summary of the </a:t>
            </a:r>
            <a:r>
              <a:rPr lang="en-GB" sz="1200" dirty="0" smtClean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solution</a:t>
            </a:r>
          </a:p>
          <a:p>
            <a:pPr marL="240018" indent="-240018" defTabSz="640048">
              <a:lnSpc>
                <a:spcPts val="1890"/>
              </a:lnSpc>
              <a:buSzPct val="100000"/>
              <a:buFontTx/>
              <a:buChar char="•"/>
            </a:pPr>
            <a:r>
              <a:rPr lang="en-GB" sz="1200" dirty="0" smtClean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Key outcomes/benefits</a:t>
            </a:r>
          </a:p>
          <a:p>
            <a:pPr marL="240018" indent="-240018" defTabSz="640048">
              <a:lnSpc>
                <a:spcPts val="1890"/>
              </a:lnSpc>
              <a:buSzPct val="100000"/>
              <a:buFontTx/>
              <a:buChar char="•"/>
            </a:pPr>
            <a:r>
              <a:rPr lang="en-GB" sz="1200" dirty="0" smtClean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Team </a:t>
            </a:r>
            <a:r>
              <a:rPr lang="en-GB" sz="12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readiness and roadmap</a:t>
            </a:r>
            <a:endParaRPr lang="en-US" sz="1200" dirty="0">
              <a:solidFill>
                <a:prstClr val="black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535B24-D40A-4667-9DF4-E9AE2B60D39A}" type="datetime3">
              <a:rPr lang="en-US" smtClean="0"/>
              <a:t>18 May 2026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7</a:t>
            </a:fld>
            <a:endParaRPr lang="en-US"/>
          </a:p>
        </p:txBody>
      </p:sp>
      <p:sp>
        <p:nvSpPr>
          <p:cNvPr id="10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2743200" y="4767263"/>
            <a:ext cx="3657600" cy="273844"/>
          </a:xfrm>
        </p:spPr>
        <p:txBody>
          <a:bodyPr/>
          <a:lstStyle/>
          <a:p>
            <a:r>
              <a:rPr lang="en-US" dirty="0" smtClean="0"/>
              <a:t>Smart Horizon 2026: 48 Hour International Hackathon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722336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1885950"/>
            <a:ext cx="8229600" cy="971550"/>
          </a:xfrm>
        </p:spPr>
        <p:txBody>
          <a:bodyPr/>
          <a:lstStyle/>
          <a:p>
            <a:r>
              <a:rPr lang="en-IN" dirty="0" smtClean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  <a:endParaRPr lang="en-US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D46FD1-89A1-4A16-B7FB-CE4A4C85D393}" type="datetime3">
              <a:rPr lang="en-US" smtClean="0"/>
              <a:t>18 May 2026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8</a:t>
            </a:fld>
            <a:endParaRPr lang="en-US"/>
          </a:p>
        </p:txBody>
      </p:sp>
      <p:sp>
        <p:nvSpPr>
          <p:cNvPr id="9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2743200" y="4767263"/>
            <a:ext cx="3657600" cy="273844"/>
          </a:xfrm>
        </p:spPr>
        <p:txBody>
          <a:bodyPr/>
          <a:lstStyle/>
          <a:p>
            <a:r>
              <a:rPr lang="en-US" dirty="0" smtClean="0"/>
              <a:t>Smart Horizon 2026: 48 Hour International Hackathon</a:t>
            </a:r>
            <a:endParaRPr 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180</TotalTime>
  <Words>260</Words>
  <Application>Microsoft Office PowerPoint</Application>
  <PresentationFormat>On-screen Show (16:9)</PresentationFormat>
  <Paragraphs>74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4" baseType="lpstr">
      <vt:lpstr>Arial</vt:lpstr>
      <vt:lpstr>Barlow Bold</vt:lpstr>
      <vt:lpstr>Calibri</vt:lpstr>
      <vt:lpstr>Montserrat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Suchith</dc:creator>
  <cp:lastModifiedBy>Dr. Sanjeev P Kaulgud</cp:lastModifiedBy>
  <cp:revision>19</cp:revision>
  <dcterms:created xsi:type="dcterms:W3CDTF">2006-08-16T00:00:00Z</dcterms:created>
  <dcterms:modified xsi:type="dcterms:W3CDTF">2026-05-18T05:00:02Z</dcterms:modified>
</cp:coreProperties>
</file>